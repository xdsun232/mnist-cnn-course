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498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B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第2天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CNN神经网络原理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214884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8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从一个神经元，到卷积、池化与完整CNN结构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50749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18243B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5074920"/>
            <a:ext cx="73152" cy="731520"/>
          </a:xfrm>
          <a:prstGeom prst="rect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5239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今日主线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5605272"/>
            <a:ext cx="1920240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输入数字化  →  特征提取  →  分类决策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8096" y="6163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MNIST CNN 4天训练营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0" y="1584960"/>
            <a:ext cx="1300277" cy="17068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1584960"/>
            <a:ext cx="1300277" cy="119481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584960"/>
            <a:ext cx="1300277" cy="221894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1584960"/>
            <a:ext cx="1300277" cy="324307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2438400"/>
            <a:ext cx="1300277" cy="-68275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2438400"/>
            <a:ext cx="1300277" cy="34137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2438400"/>
            <a:ext cx="1300277" cy="136550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2438400"/>
            <a:ext cx="1300277" cy="238963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3291840"/>
            <a:ext cx="1300277" cy="-153619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3291840"/>
            <a:ext cx="1300277" cy="-51206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3291840"/>
            <a:ext cx="1300277" cy="51206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3291840"/>
            <a:ext cx="1300277" cy="153619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4145280"/>
            <a:ext cx="1300277" cy="-238963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4145280"/>
            <a:ext cx="1300277" cy="-136550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4145280"/>
            <a:ext cx="1300277" cy="-34137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4145280"/>
            <a:ext cx="1300277" cy="68275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4998720"/>
            <a:ext cx="1300277" cy="-324307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4998720"/>
            <a:ext cx="1300277" cy="-221894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0" y="4998720"/>
            <a:ext cx="1300277" cy="-119481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4998720"/>
            <a:ext cx="1300277" cy="-17068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46997" y="1755648"/>
            <a:ext cx="1166774" cy="25603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46997" y="1755648"/>
            <a:ext cx="1166774" cy="153619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46997" y="1755648"/>
            <a:ext cx="1166774" cy="281635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46997" y="2779776"/>
            <a:ext cx="1166774" cy="-76809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46997" y="2779776"/>
            <a:ext cx="1166774" cy="51206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46997" y="2779776"/>
            <a:ext cx="1166774" cy="179222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46997" y="3803904"/>
            <a:ext cx="1166774" cy="-179222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46997" y="3803904"/>
            <a:ext cx="1166774" cy="-51206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46997" y="3803904"/>
            <a:ext cx="1166774" cy="76809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46997" y="4828032"/>
            <a:ext cx="1166774" cy="-281635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46997" y="4828032"/>
            <a:ext cx="1166774" cy="-153619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46997" y="4828032"/>
            <a:ext cx="1166774" cy="-25603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71816" y="148437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71816" y="233781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71816" y="319125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71816" y="404469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71816" y="489813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54973" y="1655064"/>
            <a:ext cx="201168" cy="201168"/>
          </a:xfrm>
          <a:prstGeom prst="ellipse">
            <a:avLst/>
          </a:prstGeom>
          <a:solidFill>
            <a:srgbClr val="20B486"/>
          </a:solidFill>
          <a:ln w="10160">
            <a:solidFill>
              <a:srgbClr val="20B48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54973" y="2679192"/>
            <a:ext cx="201168" cy="201168"/>
          </a:xfrm>
          <a:prstGeom prst="ellipse">
            <a:avLst/>
          </a:prstGeom>
          <a:solidFill>
            <a:srgbClr val="20B486"/>
          </a:solidFill>
          <a:ln w="10160">
            <a:solidFill>
              <a:srgbClr val="20B48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54973" y="3703320"/>
            <a:ext cx="201168" cy="201168"/>
          </a:xfrm>
          <a:prstGeom prst="ellipse">
            <a:avLst/>
          </a:prstGeom>
          <a:solidFill>
            <a:srgbClr val="20B486"/>
          </a:solidFill>
          <a:ln w="10160">
            <a:solidFill>
              <a:srgbClr val="20B48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4973" y="4727448"/>
            <a:ext cx="201168" cy="201168"/>
          </a:xfrm>
          <a:prstGeom prst="ellipse">
            <a:avLst/>
          </a:prstGeom>
          <a:solidFill>
            <a:srgbClr val="20B486"/>
          </a:solidFill>
          <a:ln w="10160">
            <a:solidFill>
              <a:srgbClr val="20B48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04627" y="191109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504627" y="319125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04627" y="447141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85632" y="2761488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81644" y="2761488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77656" y="2761488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73668" y="2761488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69680" y="2761488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65692" y="2761488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61704" y="276148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57716" y="276148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253728" y="276148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49740" y="276148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85632" y="285750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581644" y="285750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77656" y="285750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773668" y="285750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69680" y="285750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965692" y="285750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061704" y="285750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57716" y="285750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253728" y="285750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349740" y="285750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485632" y="2953512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81644" y="2953512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677656" y="29535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773668" y="29535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869680" y="29535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5692" y="29535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61704" y="29535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157716" y="29535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253728" y="29535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349740" y="29535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485632" y="3049524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581644" y="3049524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677656" y="3049524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73668" y="3049524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869680" y="3049524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965692" y="304952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061704" y="304952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157716" y="304952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253728" y="304952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349740" y="304952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85632" y="314553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581644" y="314553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677656" y="314553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3668" y="314553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869680" y="3145536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965692" y="3145536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061704" y="314553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157716" y="314553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253728" y="314553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349740" y="314553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485632" y="32415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581644" y="32415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677656" y="32415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3668" y="32415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869680" y="3241548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965692" y="3241548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61704" y="32415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157716" y="32415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253728" y="32415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349740" y="32415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485632" y="333756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581644" y="333756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677656" y="33375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773668" y="33375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869680" y="333756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965692" y="333756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061704" y="33375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157716" y="33375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253728" y="33375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349740" y="33375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485632" y="343357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581644" y="3433572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677656" y="3433572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773668" y="3433572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869680" y="3433572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965692" y="343357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061704" y="343357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157716" y="343357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253728" y="343357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349740" y="343357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485632" y="35295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581644" y="35295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77656" y="35295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773668" y="35295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869680" y="35295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965692" y="35295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061704" y="35295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157716" y="35295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253728" y="35295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349740" y="35295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485632" y="36255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581644" y="36255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677656" y="36255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773668" y="36255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869680" y="36255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965692" y="36255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061704" y="36255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157716" y="36255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253728" y="36255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349740" y="36255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156448" y="2432304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20B48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今日目标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学完后能解释CNN每一层为什么存在，并能手推一个小卷积例子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02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874520" cy="2788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34440" y="2157984"/>
            <a:ext cx="841248" cy="841248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33172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神经元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" y="3730752"/>
            <a:ext cx="14447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理解权重、偏置、激活函数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2971800" y="1828800"/>
            <a:ext cx="1874520" cy="2788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2157984"/>
            <a:ext cx="841248" cy="841248"/>
          </a:xfrm>
          <a:prstGeom prst="ellipse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33172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36392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前向与反向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172968" y="3730752"/>
            <a:ext cx="14447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知道训练一次发生的五个步骤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5212080" y="1828800"/>
            <a:ext cx="1874520" cy="2788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0" y="2157984"/>
            <a:ext cx="841248" cy="841248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33172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76672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卷积层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13248" y="3730752"/>
            <a:ext cx="14447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理解局部连接与参数共享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7452360" y="1828800"/>
            <a:ext cx="1874520" cy="2788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55280" y="2157984"/>
            <a:ext cx="841248" cy="8412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33172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16952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池化层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653528" y="3730752"/>
            <a:ext cx="14447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理解降采样与保留强特征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9692640" y="1828800"/>
            <a:ext cx="1874520" cy="2788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195560" y="2157984"/>
            <a:ext cx="841248" cy="841248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95560" y="233172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57232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LeNet-5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893808" y="3730752"/>
            <a:ext cx="14447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看懂经典CNN结构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B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90分钟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第一部分：神经网络基础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22960" y="2999232"/>
            <a:ext cx="201168" cy="201168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2971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E7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图片如何变成数字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" y="3566160"/>
            <a:ext cx="201168" cy="201168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3538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E7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神经元如何给特征打分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4133088"/>
            <a:ext cx="201168" cy="201168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4105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E7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前向传播、损失、反向传播如何连起来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412480" y="1569720"/>
            <a:ext cx="1146658" cy="17678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1569720"/>
            <a:ext cx="1146658" cy="123748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569720"/>
            <a:ext cx="1146658" cy="229819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569720"/>
            <a:ext cx="1146658" cy="335889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453640"/>
            <a:ext cx="1146658" cy="-70713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453640"/>
            <a:ext cx="1146658" cy="35356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453640"/>
            <a:ext cx="1146658" cy="141427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453640"/>
            <a:ext cx="1146658" cy="247497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3337560"/>
            <a:ext cx="1146658" cy="-159105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3337560"/>
            <a:ext cx="1146658" cy="-53035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3337560"/>
            <a:ext cx="1146658" cy="53035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3337560"/>
            <a:ext cx="1146658" cy="159105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4221480"/>
            <a:ext cx="1146658" cy="-247497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4221480"/>
            <a:ext cx="1146658" cy="-141427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4221480"/>
            <a:ext cx="1146658" cy="-35356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4221480"/>
            <a:ext cx="1146658" cy="70713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0" y="5105400"/>
            <a:ext cx="1146658" cy="-335889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5105400"/>
            <a:ext cx="1146658" cy="-229819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5105400"/>
            <a:ext cx="1146658" cy="-123748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5105400"/>
            <a:ext cx="1146658" cy="-17678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42018" y="1746504"/>
            <a:ext cx="1035101" cy="26517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42018" y="1746504"/>
            <a:ext cx="1035101" cy="159105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42018" y="1746504"/>
            <a:ext cx="1035101" cy="291693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42018" y="2807208"/>
            <a:ext cx="1035101" cy="-79552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42018" y="2807208"/>
            <a:ext cx="1035101" cy="53035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42018" y="2807208"/>
            <a:ext cx="1035101" cy="185623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42018" y="3867912"/>
            <a:ext cx="1035101" cy="-185623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42018" y="3867912"/>
            <a:ext cx="1035101" cy="-53035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42018" y="3867912"/>
            <a:ext cx="1035101" cy="79552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42018" y="4928616"/>
            <a:ext cx="1035101" cy="-291693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42018" y="4928616"/>
            <a:ext cx="1035101" cy="-159105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42018" y="4928616"/>
            <a:ext cx="1035101" cy="-26517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0456" y="146913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0456" y="235305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0456" y="323697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0456" y="412089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0456" y="500481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49994" y="1645920"/>
            <a:ext cx="201168" cy="201168"/>
          </a:xfrm>
          <a:prstGeom prst="ellipse">
            <a:avLst/>
          </a:prstGeom>
          <a:solidFill>
            <a:srgbClr val="20B486"/>
          </a:solidFill>
          <a:ln w="10160">
            <a:solidFill>
              <a:srgbClr val="20B48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49994" y="2706624"/>
            <a:ext cx="201168" cy="201168"/>
          </a:xfrm>
          <a:prstGeom prst="ellipse">
            <a:avLst/>
          </a:prstGeom>
          <a:solidFill>
            <a:srgbClr val="20B486"/>
          </a:solidFill>
          <a:ln w="10160">
            <a:solidFill>
              <a:srgbClr val="20B48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49994" y="3767328"/>
            <a:ext cx="201168" cy="201168"/>
          </a:xfrm>
          <a:prstGeom prst="ellipse">
            <a:avLst/>
          </a:prstGeom>
          <a:solidFill>
            <a:srgbClr val="20B486"/>
          </a:solidFill>
          <a:ln w="10160">
            <a:solidFill>
              <a:srgbClr val="20B48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49994" y="4828032"/>
            <a:ext cx="201168" cy="201168"/>
          </a:xfrm>
          <a:prstGeom prst="ellipse">
            <a:avLst/>
          </a:prstGeom>
          <a:solidFill>
            <a:srgbClr val="20B486"/>
          </a:solidFill>
          <a:ln w="10160">
            <a:solidFill>
              <a:srgbClr val="20B48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767974" y="191109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767974" y="323697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767974" y="456285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MNIST任务：输入图片，输出类别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先把任务本身讲清楚，再进入神经元和网络结构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04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68680" y="1847088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1847088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6152" y="1847088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1847088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63624" y="1847088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847088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11096" y="1847088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84832" y="1847088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58568" y="1847088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32304" y="1847088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2020824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" y="2020824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6152" y="202082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89888" y="202082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3624" y="202082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37360" y="202082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11096" y="202082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84832" y="202082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8568" y="202082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32304" y="202082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2194560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416" y="2194560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16152" y="219456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89888" y="219456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63624" y="219456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37360" y="219456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11096" y="219456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84832" y="219456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58568" y="219456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32304" y="219456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2368296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2416" y="2368296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16152" y="2368296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89888" y="2368296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63624" y="2368296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37360" y="236829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11096" y="236829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84832" y="236829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58568" y="236829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32304" y="236829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8680" y="254203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2416" y="254203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16152" y="254203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89888" y="254203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63624" y="2542032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37360" y="2542032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11096" y="254203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84832" y="254203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58568" y="254203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32304" y="254203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" y="2715768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42416" y="2715768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16152" y="2715768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89888" y="2715768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63624" y="2715768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737360" y="2715768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11096" y="2715768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084832" y="2715768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58568" y="2715768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432304" y="2715768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" y="2889504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2416" y="2889504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216152" y="288950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89888" y="288950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63624" y="2889504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737360" y="2889504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11096" y="288950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084832" y="288950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258568" y="288950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432304" y="2889504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8680" y="306324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2416" y="3063240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216152" y="3063240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389888" y="3063240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563624" y="3063240"/>
            <a:ext cx="173736" cy="173736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37360" y="306324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11096" y="306324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084832" y="306324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258568" y="306324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32304" y="3063240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68680" y="323697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42416" y="323697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216152" y="323697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89888" y="323697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563624" y="323697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37360" y="323697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911096" y="323697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084832" y="323697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258568" y="323697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432304" y="3236976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68680" y="341071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42416" y="341071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216152" y="341071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389888" y="341071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563624" y="341071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0" y="341071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911096" y="341071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084832" y="341071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258568" y="341071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432304" y="3410712"/>
            <a:ext cx="173736" cy="173736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22960" y="3767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28×28 灰度图片</a:t>
            </a:r>
            <a:endParaRPr lang="en-US" sz="1250" dirty="0"/>
          </a:p>
        </p:txBody>
      </p:sp>
      <p:sp>
        <p:nvSpPr>
          <p:cNvPr id="108" name="Shape 106"/>
          <p:cNvSpPr/>
          <p:nvPr/>
        </p:nvSpPr>
        <p:spPr>
          <a:xfrm>
            <a:off x="2926080" y="2633472"/>
            <a:ext cx="1188720" cy="475488"/>
          </a:xfrm>
          <a:prstGeom prst="chevron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971800" y="27432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拉直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4343400" y="1938528"/>
            <a:ext cx="2011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773168" y="22219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[784]</a:t>
            </a:r>
            <a:endParaRPr lang="en-US" sz="2700" dirty="0"/>
          </a:p>
        </p:txBody>
      </p:sp>
      <p:sp>
        <p:nvSpPr>
          <p:cNvPr id="112" name="Text 110"/>
          <p:cNvSpPr/>
          <p:nvPr/>
        </p:nvSpPr>
        <p:spPr>
          <a:xfrm>
            <a:off x="4608576" y="28072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784个像素数字</a:t>
            </a:r>
            <a:endParaRPr lang="en-US" sz="1120" dirty="0"/>
          </a:p>
        </p:txBody>
      </p:sp>
      <p:sp>
        <p:nvSpPr>
          <p:cNvPr id="113" name="Shape 111"/>
          <p:cNvSpPr/>
          <p:nvPr/>
        </p:nvSpPr>
        <p:spPr>
          <a:xfrm>
            <a:off x="6601968" y="2633472"/>
            <a:ext cx="1417320" cy="475488"/>
          </a:xfrm>
          <a:prstGeom prst="chevron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647688" y="27432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网络计算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275320" y="1417320"/>
            <a:ext cx="28803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458200" y="171907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458200" y="15544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8439912" y="182880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8933688" y="171907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933688" y="15544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8915400" y="182880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9409176" y="171907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409176" y="15544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9390888" y="182880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9884664" y="171907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884664" y="15544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50" dirty="0"/>
          </a:p>
        </p:txBody>
      </p:sp>
      <p:sp>
        <p:nvSpPr>
          <p:cNvPr id="127" name="Text 125"/>
          <p:cNvSpPr/>
          <p:nvPr/>
        </p:nvSpPr>
        <p:spPr>
          <a:xfrm>
            <a:off x="9866376" y="182880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10360152" y="171907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360152" y="15544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10341864" y="182880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8458200" y="237744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458200" y="22128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50" dirty="0"/>
          </a:p>
        </p:txBody>
      </p:sp>
      <p:sp>
        <p:nvSpPr>
          <p:cNvPr id="133" name="Text 131"/>
          <p:cNvSpPr/>
          <p:nvPr/>
        </p:nvSpPr>
        <p:spPr>
          <a:xfrm>
            <a:off x="8439912" y="248716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6.8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8933688" y="237744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933688" y="22128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50" dirty="0"/>
          </a:p>
        </p:txBody>
      </p:sp>
      <p:sp>
        <p:nvSpPr>
          <p:cNvPr id="136" name="Text 134"/>
          <p:cNvSpPr/>
          <p:nvPr/>
        </p:nvSpPr>
        <p:spPr>
          <a:xfrm>
            <a:off x="8915400" y="248716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9409176" y="237744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409176" y="22128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50" dirty="0"/>
          </a:p>
        </p:txBody>
      </p:sp>
      <p:sp>
        <p:nvSpPr>
          <p:cNvPr id="139" name="Text 137"/>
          <p:cNvSpPr/>
          <p:nvPr/>
        </p:nvSpPr>
        <p:spPr>
          <a:xfrm>
            <a:off x="9390888" y="248716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9884664" y="237744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9884664" y="22128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50" dirty="0"/>
          </a:p>
        </p:txBody>
      </p:sp>
      <p:sp>
        <p:nvSpPr>
          <p:cNvPr id="142" name="Text 140"/>
          <p:cNvSpPr/>
          <p:nvPr/>
        </p:nvSpPr>
        <p:spPr>
          <a:xfrm>
            <a:off x="9866376" y="248716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10360152" y="237744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0360152" y="22128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50" dirty="0"/>
          </a:p>
        </p:txBody>
      </p:sp>
      <p:sp>
        <p:nvSpPr>
          <p:cNvPr id="145" name="Text 143"/>
          <p:cNvSpPr/>
          <p:nvPr/>
        </p:nvSpPr>
        <p:spPr>
          <a:xfrm>
            <a:off x="10341864" y="248716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8622792" y="31272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10个类别分数</a:t>
            </a:r>
            <a:endParaRPr lang="en-US" sz="1120" dirty="0"/>
          </a:p>
        </p:txBody>
      </p:sp>
      <p:sp>
        <p:nvSpPr>
          <p:cNvPr id="147" name="Shape 145"/>
          <p:cNvSpPr/>
          <p:nvPr/>
        </p:nvSpPr>
        <p:spPr>
          <a:xfrm>
            <a:off x="8686800" y="4315968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686800" y="44714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预测结果 = 5</a:t>
            </a:r>
            <a:endParaRPr lang="en-US" sz="1500" dirty="0"/>
          </a:p>
        </p:txBody>
      </p:sp>
      <p:sp>
        <p:nvSpPr>
          <p:cNvPr id="149" name="Shape 147"/>
          <p:cNvSpPr/>
          <p:nvPr/>
        </p:nvSpPr>
        <p:spPr>
          <a:xfrm>
            <a:off x="822960" y="4892040"/>
            <a:ext cx="1033272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0" name="Shape 148"/>
          <p:cNvSpPr/>
          <p:nvPr/>
        </p:nvSpPr>
        <p:spPr>
          <a:xfrm>
            <a:off x="822960" y="4892040"/>
            <a:ext cx="73152" cy="676656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051560" y="5056632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讲课提示</a:t>
            </a:r>
            <a:endParaRPr lang="en-US" sz="1400" dirty="0"/>
          </a:p>
        </p:txBody>
      </p:sp>
      <p:sp>
        <p:nvSpPr>
          <p:cNvPr id="152" name="Text 150"/>
          <p:cNvSpPr/>
          <p:nvPr/>
        </p:nvSpPr>
        <p:spPr>
          <a:xfrm>
            <a:off x="1051560" y="5422392"/>
            <a:ext cx="9921240" cy="-9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输出层通常给出 logits：它们还不是概率，但最大分数对应模型最倾向的类别。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一个神经元：可学习的打分器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神经元把输入特征加权求和，再通过激活函数输出一个值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05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880360" cy="347472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103120"/>
            <a:ext cx="411480" cy="411480"/>
          </a:xfrm>
          <a:prstGeom prst="rect">
            <a:avLst/>
          </a:prstGeom>
          <a:solidFill>
            <a:srgbClr val="DDF7E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112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3000" y="2514600"/>
            <a:ext cx="411480" cy="411480"/>
          </a:xfrm>
          <a:prstGeom prst="rect">
            <a:avLst/>
          </a:prstGeom>
          <a:solidFill>
            <a:srgbClr val="DDF7E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523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43000" y="2926080"/>
            <a:ext cx="4114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935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17190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0280" y="2103120"/>
            <a:ext cx="411480" cy="411480"/>
          </a:xfrm>
          <a:prstGeom prst="rect">
            <a:avLst/>
          </a:prstGeom>
          <a:solidFill>
            <a:srgbClr val="FFF4D6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2112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40280" y="2514600"/>
            <a:ext cx="411480" cy="411480"/>
          </a:xfrm>
          <a:prstGeom prst="rect">
            <a:avLst/>
          </a:prstGeom>
          <a:solidFill>
            <a:srgbClr val="FFF4D6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2523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40280" y="2926080"/>
            <a:ext cx="4114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2935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-0.5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57400" y="1719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 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F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偏置 b = -1.0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1605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输入越重要，权重越大；权重也可以是负数。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3886200" y="2779776"/>
            <a:ext cx="1188720" cy="475488"/>
          </a:xfrm>
          <a:prstGeom prst="chevron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28895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加权求和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2084832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0.9×1.2 + 0.8×1.0 + 0.1×(-0.5) - 1.0 = 0.83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5486400" y="2880360"/>
            <a:ext cx="19202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B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ReLU(0.83) = 0.83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5486400" y="3977640"/>
            <a:ext cx="4892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3977640"/>
            <a:ext cx="73152" cy="841248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41422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15000" y="4507992"/>
            <a:ext cx="44805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输出值越大，说明这个神经元越认可当前输入中存在它关心的特征。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一层网络：多个神经元一起工作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隐藏层把原始像素组合成更有用的中间特征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06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14400" y="1508760"/>
            <a:ext cx="20574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572768" y="2331720"/>
            <a:ext cx="731520" cy="7315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25146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33375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784个像素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39776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8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[784]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977640" y="1508760"/>
            <a:ext cx="20574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7880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636008" y="2331720"/>
            <a:ext cx="731520" cy="731520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25146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06240" y="33375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128种中间特征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39776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B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[128]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360920" y="1508760"/>
            <a:ext cx="20574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208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019288" y="2331720"/>
            <a:ext cx="731520" cy="731520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19288" y="25146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89520" y="33375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10个数字分数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39776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5F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3063240" y="2926080"/>
            <a:ext cx="685800" cy="475488"/>
          </a:xfrm>
          <a:prstGeom prst="chevron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03580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2926080"/>
            <a:ext cx="777240" cy="475488"/>
          </a:xfrm>
          <a:prstGeom prst="chevron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035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01200" y="1609344"/>
            <a:ext cx="1783080" cy="3246120"/>
          </a:xfrm>
          <a:prstGeom prst="roundRect">
            <a:avLst>
              <a:gd name="adj" fmla="val 410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65792" y="1755648"/>
            <a:ext cx="1453896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输入 [784]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↓ Linear(784, 128)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↓ ReLU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↓ Linear(128, 10)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输出 [10]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前向传播：从图片算出预测结果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前向传播只负责算答案，还没有修改参数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07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21031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0472" y="2048256"/>
            <a:ext cx="777240" cy="77724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0472" y="224028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32735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image.view(784)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3044952" y="2432304"/>
            <a:ext cx="429768" cy="475488"/>
          </a:xfrm>
          <a:prstGeom prst="chevron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2542032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1828800"/>
            <a:ext cx="21031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9392" y="2048256"/>
            <a:ext cx="777240" cy="777240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224028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9476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隐藏特征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76472" y="32735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relu(x @ W1 + b1)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833872" y="2432304"/>
            <a:ext cx="429768" cy="475488"/>
          </a:xfrm>
          <a:prstGeom prst="chevron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9592" y="2542032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1828800"/>
            <a:ext cx="21031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68312" y="2048256"/>
            <a:ext cx="777240" cy="777240"/>
          </a:xfrm>
          <a:prstGeom prst="ellipse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8312" y="224028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类别分数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65392" y="32735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 @ W2 + b2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8622792" y="2432304"/>
            <a:ext cx="429768" cy="475488"/>
          </a:xfrm>
          <a:prstGeom prst="chevron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68512" y="2542032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89720" y="1828800"/>
            <a:ext cx="210312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57232" y="2048256"/>
            <a:ext cx="777240" cy="777240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57232" y="224028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72600" y="29718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54312" y="32735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argmax(logits)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1234440" y="4389120"/>
            <a:ext cx="9646920" cy="1051560"/>
          </a:xfrm>
          <a:prstGeom prst="roundRect">
            <a:avLst>
              <a:gd name="adj" fmla="val 695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99032" y="4535424"/>
            <a:ext cx="93177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 = image.view(784)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 = relu(x @ W1 + b1)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logits = h @ W2 + b2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pred = argmax(logits)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损失函数：告诉模型错得有多严重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训练目标不是直接追求“看起来对”，而是让loss越来越小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08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508760"/>
            <a:ext cx="73152" cy="1325880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733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情况A：模型不确定或给错分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039112"/>
            <a:ext cx="4480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真实标签是5，但数字5分数很低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loss大，模型需要明显调整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273552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273552"/>
            <a:ext cx="73152" cy="1325880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438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情况B：模型给正确类高分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803904"/>
            <a:ext cx="4480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真实标签是5，数字5分数最高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loss小，模型已经接近正确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46520" y="1527048"/>
            <a:ext cx="4343400" cy="3063240"/>
          </a:xfrm>
          <a:prstGeom prst="roundRect">
            <a:avLst>
              <a:gd name="adj" fmla="val 238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1488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outputs = model(images)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loss = criterion(outputs, labels)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3227832"/>
            <a:ext cx="3657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B8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交叉熵损失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反向传播：计算参数应该怎么改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反向传播不是把图片倒着输入，而是计算每个参数的梯度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09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828800"/>
            <a:ext cx="73152" cy="1143000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前向传播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59152"/>
            <a:ext cx="2651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→ 隐藏层 → 输出分数 → loss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828800"/>
            <a:ext cx="73152" cy="1143000"/>
          </a:xfrm>
          <a:prstGeom prst="rect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2359152"/>
            <a:ext cx="2651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loss → 计算每一层参数的梯度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75320" y="182880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1828800"/>
            <a:ext cx="73152" cy="1143000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参数更新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2359152"/>
            <a:ext cx="2651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用梯度调整权重和偏置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17320" y="3913632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w_new = w_old - α × ∂L/∂w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920240" y="4983480"/>
            <a:ext cx="84124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梯度告诉我们：哪个方向会让loss上升最快</a:t>
            </a:r>
            <a:endParaRPr lang="en-US" sz="1350" dirty="0"/>
          </a:p>
          <a:p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更新时减去梯度，往loss下降的方向走</a:t>
            </a:r>
            <a:endParaRPr lang="en-US" sz="1350" dirty="0"/>
          </a:p>
          <a:p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学习率α控制每次参数改动的大小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一次训练到底发生了什么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第3天写训练循环时，这五行代码会反复出现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6492240" cy="4023360"/>
          </a:xfrm>
          <a:prstGeom prst="roundRect">
            <a:avLst>
              <a:gd name="adj" fmla="val 181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55064"/>
            <a:ext cx="616305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outputs = model(images)          # 1. 前向传播：算预测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loss = criterion(outputs, labels) # 2. 计算损失：看错多少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optimizer.zero_grad()            # 3. 清空旧梯度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loss.backward()                  # 4. 反向传播：计算新梯度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optimizer.step()                 # 5. 更新参数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1664208"/>
            <a:ext cx="384048" cy="384048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7647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49640" y="17373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算预测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47304" y="2075688"/>
            <a:ext cx="0" cy="256032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377440"/>
            <a:ext cx="384048" cy="384048"/>
          </a:xfrm>
          <a:prstGeom prst="ellipse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24780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49640" y="2450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看错多少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147304" y="2788920"/>
            <a:ext cx="0" cy="256032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309067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31912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49640" y="316382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清梯度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147304" y="3502152"/>
            <a:ext cx="0" cy="256032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3803904"/>
            <a:ext cx="384048" cy="384048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390448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49640" y="387705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算新梯度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147304" y="4215384"/>
            <a:ext cx="0" cy="256032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4517136"/>
            <a:ext cx="384048" cy="384048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46177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49640" y="45902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更新参数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初学者常见误区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把容易混淆的概念一次讲清楚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11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49808" y="1353312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E8E5"/>
          </a:solidFill>
          <a:ln w="12700">
            <a:solidFill>
              <a:srgbClr val="FFD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353312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DDF7ED"/>
          </a:solidFill>
          <a:ln w="12700">
            <a:solidFill>
              <a:srgbClr val="BDED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08760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权重是老师手动设置的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656832" y="1508760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权重随机初始化，然后从数据中学出来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86384" y="9601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5F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3952" y="9601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B4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正确理解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2221992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E8E5"/>
          </a:solidFill>
          <a:ln w="12700">
            <a:solidFill>
              <a:srgbClr val="FFD1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221992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DDF7ED"/>
          </a:solidFill>
          <a:ln w="12700">
            <a:solidFill>
              <a:srgbClr val="BDED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377440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输出层直接输出一个数字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656832" y="2377440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输出10个分数，再选最大分数对应的类别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49808" y="3090672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E8E5"/>
          </a:solidFill>
          <a:ln w="12700">
            <a:solidFill>
              <a:srgbClr val="FFD1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3090672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DDF7ED"/>
          </a:solidFill>
          <a:ln w="12700">
            <a:solidFill>
              <a:srgbClr val="BDED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246120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反向传播就是把数据倒着跑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656832" y="3246120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反向传播是在计算每个参数的梯度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49808" y="3959352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E8E5"/>
          </a:solidFill>
          <a:ln w="12700">
            <a:solidFill>
              <a:srgbClr val="FFD1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959352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DDF7ED"/>
          </a:solidFill>
          <a:ln w="12700">
            <a:solidFill>
              <a:srgbClr val="BDED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114800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层数越多一定越好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656832" y="4114800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层数多也更难训练，更容易过拟合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49808" y="4828032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E8E5"/>
          </a:solidFill>
          <a:ln w="12700">
            <a:solidFill>
              <a:srgbClr val="FFD1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4828032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DDF7ED"/>
          </a:solidFill>
          <a:ln w="12700">
            <a:solidFill>
              <a:srgbClr val="BDED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983480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没有激活函数也可以堆很多层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656832" y="4983480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没有非线性，多层线性变换仍等价于一层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B8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90分钟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第二部分：卷积神经网络核心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22960" y="2999232"/>
            <a:ext cx="201168" cy="201168"/>
          </a:xfrm>
          <a:prstGeom prst="ellipse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2971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E7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为什么普通全连接网络不适合图像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" y="3566160"/>
            <a:ext cx="201168" cy="201168"/>
          </a:xfrm>
          <a:prstGeom prst="ellipse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3538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E7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卷积层如何检测局部特征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4133088"/>
            <a:ext cx="201168" cy="201168"/>
          </a:xfrm>
          <a:prstGeom prst="ellipse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4105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E7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池化层和激活函数各自解决什么问题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412480" y="1569720"/>
            <a:ext cx="1146658" cy="17678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1569720"/>
            <a:ext cx="1146658" cy="123748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569720"/>
            <a:ext cx="1146658" cy="229819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569720"/>
            <a:ext cx="1146658" cy="335889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453640"/>
            <a:ext cx="1146658" cy="-70713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453640"/>
            <a:ext cx="1146658" cy="35356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453640"/>
            <a:ext cx="1146658" cy="141427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453640"/>
            <a:ext cx="1146658" cy="247497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3337560"/>
            <a:ext cx="1146658" cy="-159105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3337560"/>
            <a:ext cx="1146658" cy="-53035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3337560"/>
            <a:ext cx="1146658" cy="53035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3337560"/>
            <a:ext cx="1146658" cy="159105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4221480"/>
            <a:ext cx="1146658" cy="-247497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4221480"/>
            <a:ext cx="1146658" cy="-141427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4221480"/>
            <a:ext cx="1146658" cy="-35356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4221480"/>
            <a:ext cx="1146658" cy="70713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0" y="5105400"/>
            <a:ext cx="1146658" cy="-335889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5105400"/>
            <a:ext cx="1146658" cy="-229819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5105400"/>
            <a:ext cx="1146658" cy="-123748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5105400"/>
            <a:ext cx="1146658" cy="-176784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42018" y="1746504"/>
            <a:ext cx="1035101" cy="26517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42018" y="1746504"/>
            <a:ext cx="1035101" cy="159105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42018" y="1746504"/>
            <a:ext cx="1035101" cy="291693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42018" y="2807208"/>
            <a:ext cx="1035101" cy="-79552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42018" y="2807208"/>
            <a:ext cx="1035101" cy="53035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42018" y="2807208"/>
            <a:ext cx="1035101" cy="185623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42018" y="3867912"/>
            <a:ext cx="1035101" cy="-185623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42018" y="3867912"/>
            <a:ext cx="1035101" cy="-530352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42018" y="3867912"/>
            <a:ext cx="1035101" cy="795528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42018" y="4928616"/>
            <a:ext cx="1035101" cy="-291693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42018" y="4928616"/>
            <a:ext cx="1035101" cy="-159105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42018" y="4928616"/>
            <a:ext cx="1035101" cy="-265176"/>
          </a:xfrm>
          <a:prstGeom prst="line">
            <a:avLst/>
          </a:prstGeom>
          <a:noFill/>
          <a:ln w="6350">
            <a:solidFill>
              <a:srgbClr val="7F8EA3">
                <a:alpha val="4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0456" y="146913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0456" y="235305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0456" y="323697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0456" y="412089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0456" y="500481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49994" y="1645920"/>
            <a:ext cx="201168" cy="201168"/>
          </a:xfrm>
          <a:prstGeom prst="ellipse">
            <a:avLst/>
          </a:prstGeom>
          <a:solidFill>
            <a:srgbClr val="F7B801"/>
          </a:solidFill>
          <a:ln w="10160">
            <a:solidFill>
              <a:srgbClr val="F7B80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49994" y="2706624"/>
            <a:ext cx="201168" cy="201168"/>
          </a:xfrm>
          <a:prstGeom prst="ellipse">
            <a:avLst/>
          </a:prstGeom>
          <a:solidFill>
            <a:srgbClr val="F7B801"/>
          </a:solidFill>
          <a:ln w="10160">
            <a:solidFill>
              <a:srgbClr val="F7B80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49994" y="3767328"/>
            <a:ext cx="201168" cy="201168"/>
          </a:xfrm>
          <a:prstGeom prst="ellipse">
            <a:avLst/>
          </a:prstGeom>
          <a:solidFill>
            <a:srgbClr val="F7B801"/>
          </a:solidFill>
          <a:ln w="10160">
            <a:solidFill>
              <a:srgbClr val="F7B80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49994" y="4828032"/>
            <a:ext cx="201168" cy="201168"/>
          </a:xfrm>
          <a:prstGeom prst="ellipse">
            <a:avLst/>
          </a:prstGeom>
          <a:solidFill>
            <a:srgbClr val="F7B801"/>
          </a:solidFill>
          <a:ln w="10160">
            <a:solidFill>
              <a:srgbClr val="F7B80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767974" y="191109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767974" y="323697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767974" y="4562856"/>
            <a:ext cx="201168" cy="201168"/>
          </a:xfrm>
          <a:prstGeom prst="ellipse">
            <a:avLst/>
          </a:prstGeom>
          <a:solidFill>
            <a:srgbClr val="DDE7F3"/>
          </a:solidFill>
          <a:ln w="10160">
            <a:solidFill>
              <a:srgbClr val="DDE7F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为什么需要CNN？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全连接网络能工作，但对图像结构不友好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13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417320"/>
            <a:ext cx="73152" cy="1170432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丢失空间结构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" y="1947672"/>
            <a:ext cx="2926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图片拉直后，网络不知道哪些像素原本相邻。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283464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834640"/>
            <a:ext cx="73152" cy="1170432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9992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参数太多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78408" y="3364992"/>
            <a:ext cx="2926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第一层1000个神经元就有784000个权重。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425196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251960"/>
            <a:ext cx="73152" cy="1170432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416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位置变化不稳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" y="4782312"/>
            <a:ext cx="2926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同一条竖线换个位置，会变成不同像素模式。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64608" y="1417320"/>
            <a:ext cx="6309360" cy="400507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CNN的三个关键想法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321808" y="2441448"/>
            <a:ext cx="347472" cy="347472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24231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局部连接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7728" y="243230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每个卷积核只看一小块区域，例如3×3像素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5321808" y="3227832"/>
            <a:ext cx="347472" cy="347472"/>
          </a:xfrm>
          <a:prstGeom prst="ellipse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32095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参数共享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67728" y="321868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同一套权重扫过整张图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5321808" y="4014216"/>
            <a:ext cx="347472" cy="347472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33872" y="39959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保留二维结构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67728" y="400507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输入按高度和宽度处理，不先粗暴拉直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9464040" y="411480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60052" y="411480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56064" y="411480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52076" y="411480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48088" y="411480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44100" y="411480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40112" y="411480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36124" y="411480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32136" y="411480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28148" y="411480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64040" y="4210812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60052" y="4210812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56064" y="42108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52076" y="42108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48088" y="42108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44100" y="42108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40112" y="42108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36124" y="42108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32136" y="42108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28148" y="421081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64040" y="4306824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60052" y="4306824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656064" y="430682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752076" y="430682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48088" y="430682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44100" y="430682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40112" y="430682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36124" y="430682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232136" y="430682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328148" y="430682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64040" y="4402836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60052" y="4402836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56064" y="4402836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752076" y="4402836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848088" y="4402836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944100" y="440283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40112" y="440283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136124" y="440283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32136" y="440283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328148" y="440283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64040" y="44988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560052" y="44988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56064" y="44988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752076" y="44988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848088" y="4498848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44100" y="4498848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40112" y="44988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136124" y="44988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232136" y="44988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328148" y="449884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64040" y="45948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560052" y="45948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656064" y="45948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752076" y="45948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848088" y="459486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944100" y="4594860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040112" y="45948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136124" y="45948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232136" y="45948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328148" y="4594860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464040" y="4690872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560052" y="4690872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656064" y="469087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752076" y="469087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848088" y="4690872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944100" y="4690872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040112" y="469087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136124" y="469087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232136" y="469087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328148" y="4690872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464040" y="47868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560052" y="4786884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656064" y="4786884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752076" y="4786884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848088" y="4786884"/>
            <a:ext cx="96012" cy="96012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44100" y="47868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40112" y="47868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136124" y="47868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232136" y="47868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328148" y="4786884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464040" y="48828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560052" y="48828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656064" y="48828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752076" y="48828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848088" y="48828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944100" y="48828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040112" y="48828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136124" y="48828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232136" y="48828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328148" y="4882896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464040" y="497890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560052" y="497890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656064" y="497890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752076" y="497890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848088" y="497890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944100" y="497890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040112" y="497890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136124" y="497890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232136" y="497890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328148" y="4978908"/>
            <a:ext cx="96012" cy="96012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卷积核：一个小的特征检测器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卷积核会在整张图上滑动，寻找它关心的局部模式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14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图像局部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24128" y="1865376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27048" y="1865376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704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29968" y="1865376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32888" y="1865376"/>
            <a:ext cx="502920" cy="502920"/>
          </a:xfrm>
          <a:prstGeom prst="rect">
            <a:avLst/>
          </a:prstGeom>
          <a:solidFill>
            <a:srgbClr val="14213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35808" y="1865376"/>
            <a:ext cx="502920" cy="502920"/>
          </a:xfrm>
          <a:prstGeom prst="rect">
            <a:avLst/>
          </a:prstGeom>
          <a:solidFill>
            <a:srgbClr val="14213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580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24128" y="2368296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27048" y="2368296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2704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29968" y="2368296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2996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32888" y="2368296"/>
            <a:ext cx="502920" cy="502920"/>
          </a:xfrm>
          <a:prstGeom prst="rect">
            <a:avLst/>
          </a:prstGeom>
          <a:solidFill>
            <a:srgbClr val="14213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3288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035808" y="2368296"/>
            <a:ext cx="502920" cy="502920"/>
          </a:xfrm>
          <a:prstGeom prst="rect">
            <a:avLst/>
          </a:prstGeom>
          <a:solidFill>
            <a:srgbClr val="14213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3580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24128" y="2871216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527048" y="2871216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2704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029968" y="2871216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2996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532888" y="2871216"/>
            <a:ext cx="502920" cy="502920"/>
          </a:xfrm>
          <a:prstGeom prst="rect">
            <a:avLst/>
          </a:prstGeom>
          <a:solidFill>
            <a:srgbClr val="14213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3288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035808" y="2871216"/>
            <a:ext cx="502920" cy="502920"/>
          </a:xfrm>
          <a:prstGeom prst="rect">
            <a:avLst/>
          </a:prstGeom>
          <a:solidFill>
            <a:srgbClr val="14213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3580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24128" y="3374136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527048" y="3374136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2704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029968" y="3374136"/>
            <a:ext cx="502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996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532888" y="3374136"/>
            <a:ext cx="502920" cy="502920"/>
          </a:xfrm>
          <a:prstGeom prst="rect">
            <a:avLst/>
          </a:prstGeom>
          <a:solidFill>
            <a:srgbClr val="14213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3288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035808" y="3374136"/>
            <a:ext cx="502920" cy="502920"/>
          </a:xfrm>
          <a:prstGeom prst="rect">
            <a:avLst/>
          </a:prstGeom>
          <a:solidFill>
            <a:srgbClr val="14213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35808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0" y="15087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检测竖线的卷积核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773168" y="1975104"/>
            <a:ext cx="566928" cy="566928"/>
          </a:xfrm>
          <a:prstGeom prst="rect">
            <a:avLst/>
          </a:prstGeom>
          <a:solidFill>
            <a:srgbClr val="DDF7E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5340096" y="1975104"/>
            <a:ext cx="56692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0096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5907024" y="1975104"/>
            <a:ext cx="56692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07024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4773168" y="2542032"/>
            <a:ext cx="566928" cy="566928"/>
          </a:xfrm>
          <a:prstGeom prst="rect">
            <a:avLst/>
          </a:prstGeom>
          <a:solidFill>
            <a:srgbClr val="DDF7E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73168" y="2551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5340096" y="2542032"/>
            <a:ext cx="56692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40096" y="2551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5907024" y="2542032"/>
            <a:ext cx="56692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07024" y="2551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4773168" y="3108960"/>
            <a:ext cx="566928" cy="566928"/>
          </a:xfrm>
          <a:prstGeom prst="rect">
            <a:avLst/>
          </a:prstGeom>
          <a:solidFill>
            <a:srgbClr val="DDF7E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73168" y="3118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5340096" y="3108960"/>
            <a:ext cx="56692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40096" y="3118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5907024" y="3108960"/>
            <a:ext cx="56692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07024" y="3118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7360920" y="2560320"/>
            <a:ext cx="1143000" cy="475488"/>
          </a:xfrm>
          <a:prstGeom prst="chevron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06640" y="26700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滑动匹配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915400" y="1783080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8915400" y="1783080"/>
            <a:ext cx="73152" cy="2331720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44000" y="19476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得到特征图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9144000" y="2313432"/>
            <a:ext cx="18745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某个位置越像卷积核要找的特征，输出值通常越大。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9528048" y="4389120"/>
            <a:ext cx="1143000" cy="411480"/>
          </a:xfrm>
          <a:prstGeom prst="roundRect">
            <a:avLst>
              <a:gd name="adj" fmla="val 8889"/>
            </a:avLst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528048" y="45079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feature map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卷积计算：对应位置相乘再求和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小矩阵例子适合在黑板上手推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图像片段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" y="2029968"/>
            <a:ext cx="685800" cy="685800"/>
          </a:xfrm>
          <a:prstGeom prst="rect">
            <a:avLst/>
          </a:prstGeom>
          <a:solidFill>
            <a:srgbClr val="E6F0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391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737360" y="2029968"/>
            <a:ext cx="685800" cy="685800"/>
          </a:xfrm>
          <a:prstGeom prst="rect">
            <a:avLst/>
          </a:prstGeom>
          <a:solidFill>
            <a:srgbClr val="E6F0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20391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51560" y="2715768"/>
            <a:ext cx="685800" cy="685800"/>
          </a:xfrm>
          <a:prstGeom prst="rect">
            <a:avLst/>
          </a:prstGeom>
          <a:solidFill>
            <a:srgbClr val="E6F0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724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737360" y="2715768"/>
            <a:ext cx="685800" cy="685800"/>
          </a:xfrm>
          <a:prstGeom prst="rect">
            <a:avLst/>
          </a:prstGeom>
          <a:solidFill>
            <a:srgbClr val="E6F0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2724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03320" y="15544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30752" y="2029968"/>
            <a:ext cx="685800" cy="685800"/>
          </a:xfrm>
          <a:prstGeom prst="rect">
            <a:avLst/>
          </a:prstGeom>
          <a:solidFill>
            <a:srgbClr val="DDF7E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20391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16552" y="2029968"/>
            <a:ext cx="6858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20391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730752" y="2715768"/>
            <a:ext cx="6858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2724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416552" y="2715768"/>
            <a:ext cx="685800" cy="685800"/>
          </a:xfrm>
          <a:prstGeom prst="rect">
            <a:avLst/>
          </a:prstGeom>
          <a:solidFill>
            <a:srgbClr val="DDF7E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6552" y="2724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016752" y="2468880"/>
            <a:ext cx="1005840" cy="475488"/>
          </a:xfrm>
          <a:prstGeom prst="chevron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25786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0" y="182880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99248" y="223113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(1×1 + 2×0) + (3×0 + 4×1)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83880" y="2816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5F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5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60120" y="4709160"/>
            <a:ext cx="9966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0120" y="4709160"/>
            <a:ext cx="73152" cy="621792"/>
          </a:xfrm>
          <a:prstGeom prst="rect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4873752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记忆方式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5239512"/>
            <a:ext cx="9555480" cy="-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卷积不是把整张图一次性塞进去，而是用小窗口逐块扫描，每个位置得到一个输出值。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卷积层的三个关键参数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kernel_size、stride、padding共同决定特征图的尺寸和边界处理方式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16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1627632"/>
            <a:ext cx="2971800" cy="3246120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27632"/>
            <a:ext cx="2971800" cy="219456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B48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kernel_size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290779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卷积核大小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7008" y="3456432"/>
            <a:ext cx="22128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3×3、5×5常见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1627632"/>
            <a:ext cx="2971800" cy="3246120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627632"/>
            <a:ext cx="2971800" cy="219456"/>
          </a:xfrm>
          <a:prstGeom prst="rect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B80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stride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92040" y="290779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每次移动步长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56048" y="3456432"/>
            <a:ext cx="22128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步长越大，输出越小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21040" y="1627632"/>
            <a:ext cx="2971800" cy="3246120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627632"/>
            <a:ext cx="2971800" cy="219456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22208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5F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padding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41080" y="290779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边缘填充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05088" y="3456432"/>
            <a:ext cx="22128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保持边缘信息或控制输出尺寸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143000" y="5376672"/>
            <a:ext cx="9921240" cy="530352"/>
          </a:xfrm>
          <a:prstGeom prst="roundRect">
            <a:avLst>
              <a:gd name="adj" fmla="val 1379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7592" y="5522976"/>
            <a:ext cx="9592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输出尺寸 = (输入尺寸 - kernel_size + 2×padding) / stride + 1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池化层：压缩特征图，保留重要信息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最大池化没有可训练参数，只做固定的下采样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17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521208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37944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81328" y="1828800"/>
            <a:ext cx="521208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837944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02536" y="1828800"/>
            <a:ext cx="521208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02536" y="1837944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23744" y="1828800"/>
            <a:ext cx="521208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837944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" y="2350008"/>
            <a:ext cx="521208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359152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81328" y="2350008"/>
            <a:ext cx="521208" cy="521208"/>
          </a:xfrm>
          <a:prstGeom prst="rect">
            <a:avLst/>
          </a:prstGeom>
          <a:solidFill>
            <a:srgbClr val="DDF7E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2359152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002536" y="2350008"/>
            <a:ext cx="521208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02536" y="2359152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523744" y="2350008"/>
            <a:ext cx="521208" cy="521208"/>
          </a:xfrm>
          <a:prstGeom prst="rect">
            <a:avLst/>
          </a:prstGeom>
          <a:solidFill>
            <a:srgbClr val="DDF7E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3744" y="2359152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" y="2871216"/>
            <a:ext cx="521208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88036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481328" y="2871216"/>
            <a:ext cx="521208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288036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002536" y="2871216"/>
            <a:ext cx="521208" cy="521208"/>
          </a:xfrm>
          <a:prstGeom prst="rect">
            <a:avLst/>
          </a:prstGeom>
          <a:solidFill>
            <a:srgbClr val="DDF7E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02536" y="288036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523744" y="2871216"/>
            <a:ext cx="521208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23744" y="288036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" y="3392424"/>
            <a:ext cx="521208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340156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481328" y="3392424"/>
            <a:ext cx="521208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81328" y="340156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002536" y="3392424"/>
            <a:ext cx="521208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02536" y="340156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523744" y="3392424"/>
            <a:ext cx="521208" cy="5212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23744" y="340156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4160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输入特征图 4×4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886200" y="2523744"/>
            <a:ext cx="1143000" cy="475488"/>
          </a:xfrm>
          <a:prstGeom prst="chevron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0" y="263347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2×2 max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0" y="2121408"/>
            <a:ext cx="731520" cy="731520"/>
          </a:xfrm>
          <a:prstGeom prst="rect">
            <a:avLst/>
          </a:prstGeom>
          <a:solidFill>
            <a:srgbClr val="20B486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21305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6217920" y="2121408"/>
            <a:ext cx="731520" cy="731520"/>
          </a:xfrm>
          <a:prstGeom prst="rect">
            <a:avLst/>
          </a:prstGeom>
          <a:solidFill>
            <a:srgbClr val="20B486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21305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5486400" y="2852928"/>
            <a:ext cx="731520" cy="731520"/>
          </a:xfrm>
          <a:prstGeom prst="rect">
            <a:avLst/>
          </a:prstGeom>
          <a:solidFill>
            <a:srgbClr val="20B486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0" y="2862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6217920" y="2852928"/>
            <a:ext cx="731520" cy="731520"/>
          </a:xfrm>
          <a:prstGeom prst="rect">
            <a:avLst/>
          </a:prstGeom>
          <a:solidFill>
            <a:srgbClr val="20B486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2862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5349240" y="38862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2×2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229600" y="1737360"/>
            <a:ext cx="265176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3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减少特征图尺寸，降低后续计算量</a:t>
            </a:r>
            <a:endParaRPr lang="en-US" sz="1230" dirty="0"/>
          </a:p>
          <a:p>
            <a:r>
              <a:rPr lang="en-US" sz="123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保留局部区域最强响应</a:t>
            </a:r>
            <a:endParaRPr lang="en-US" sz="1230" dirty="0"/>
          </a:p>
          <a:p>
            <a:r>
              <a:rPr lang="en-US" sz="123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特征小范围移动时，结果仍然相似</a:t>
            </a:r>
            <a:endParaRPr lang="en-US" sz="1230" dirty="0"/>
          </a:p>
          <a:p>
            <a:r>
              <a:rPr lang="en-US" sz="123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没有权重和偏置</a:t>
            </a:r>
            <a:endParaRPr lang="en-US" sz="12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激活函数：给网络引入非线性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没有激活函数，多层线性变换仍然等价于一层线性变换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18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830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ReLU: f(x)=max(0,x)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25880" y="4343400"/>
            <a:ext cx="3337560" cy="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423160"/>
            <a:ext cx="0" cy="2240280"/>
          </a:xfrm>
          <a:prstGeom prst="line">
            <a:avLst/>
          </a:prstGeom>
          <a:noFill/>
          <a:ln w="15240">
            <a:solidFill>
              <a:srgbClr val="D9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4343400"/>
            <a:ext cx="1325880" cy="0"/>
          </a:xfrm>
          <a:prstGeom prst="line">
            <a:avLst/>
          </a:prstGeom>
          <a:noFill/>
          <a:ln w="35560">
            <a:solidFill>
              <a:srgbClr val="F25F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4343400"/>
            <a:ext cx="1600200" cy="-1600200"/>
          </a:xfrm>
          <a:prstGeom prst="line">
            <a:avLst/>
          </a:prstGeom>
          <a:noFill/>
          <a:ln w="35560">
            <a:solidFill>
              <a:srgbClr val="20B4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495604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负数变0，正数保持不变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0" y="1664208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664208"/>
            <a:ext cx="73152" cy="960120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828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为什么需要非线性？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激活函数让网络能表达更复杂的边界，而不是只能做线性分类。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2907792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2907792"/>
            <a:ext cx="73152" cy="960120"/>
          </a:xfrm>
          <a:prstGeom prst="rect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072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Sigmoid的问题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3438144"/>
            <a:ext cx="3931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输出范围是[0,1]，但深层网络中容易出现梯度消失。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4151376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4151376"/>
            <a:ext cx="73152" cy="960120"/>
          </a:xfrm>
          <a:prstGeom prst="rect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课堂重点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4681728"/>
            <a:ext cx="3931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MNIST CNN中优先记住ReLU，它简单、稳定、常用。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经典网络架构：LeNet-5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LeNet-5是早期用于手写数字识别的代表性CNN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19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1261872" cy="1051560"/>
          </a:xfrm>
          <a:prstGeom prst="roundRect">
            <a:avLst>
              <a:gd name="adj" fmla="val 5217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219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32×32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1828800" y="2258568"/>
            <a:ext cx="256032" cy="475488"/>
          </a:xfrm>
          <a:prstGeom prst="chevron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67128" y="1965960"/>
            <a:ext cx="1261872" cy="1051560"/>
          </a:xfrm>
          <a:prstGeom prst="roundRect">
            <a:avLst>
              <a:gd name="adj" fmla="val 5217"/>
            </a:avLst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58568" y="22219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58568" y="254203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6个5×5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493008" y="2258568"/>
            <a:ext cx="256032" cy="475488"/>
          </a:xfrm>
          <a:prstGeom prst="chevron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31336" y="1965960"/>
            <a:ext cx="1261872" cy="1051560"/>
          </a:xfrm>
          <a:prstGeom prst="roundRect">
            <a:avLst>
              <a:gd name="adj" fmla="val 5217"/>
            </a:avLst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22776" y="22219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22776" y="254203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2×2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157216" y="2258568"/>
            <a:ext cx="256032" cy="475488"/>
          </a:xfrm>
          <a:prstGeom prst="chevron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2936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95544" y="1965960"/>
            <a:ext cx="1261872" cy="1051560"/>
          </a:xfrm>
          <a:prstGeom prst="roundRect">
            <a:avLst>
              <a:gd name="adj" fmla="val 5217"/>
            </a:avLst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86984" y="22219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86984" y="254203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16个5×5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821424" y="2258568"/>
            <a:ext cx="256032" cy="475488"/>
          </a:xfrm>
          <a:prstGeom prst="chevron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67144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59752" y="1965960"/>
            <a:ext cx="1261872" cy="1051560"/>
          </a:xfrm>
          <a:prstGeom prst="roundRect">
            <a:avLst>
              <a:gd name="adj" fmla="val 5217"/>
            </a:avLst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51192" y="22219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池化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51192" y="254203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2×2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8485632" y="2258568"/>
            <a:ext cx="256032" cy="475488"/>
          </a:xfrm>
          <a:prstGeom prst="chevron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31352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23960" y="1965960"/>
            <a:ext cx="1261872" cy="1051560"/>
          </a:xfrm>
          <a:prstGeom prst="roundRect">
            <a:avLst>
              <a:gd name="adj" fmla="val 521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22219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全连接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15400" y="254203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→ 84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10149840" y="2258568"/>
            <a:ext cx="256032" cy="475488"/>
          </a:xfrm>
          <a:prstGeom prst="chevron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95560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488168" y="1965960"/>
            <a:ext cx="1261872" cy="1051560"/>
          </a:xfrm>
          <a:prstGeom prst="roundRect">
            <a:avLst>
              <a:gd name="adj" fmla="val 5217"/>
            </a:avLst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79608" y="22219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579608" y="254203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10类别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005840" y="4069080"/>
            <a:ext cx="101498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80160" y="4279392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理解顺序：先用卷积和池化提取图像特征，再用全连接层做最终分类。</a:t>
            </a:r>
            <a:endParaRPr lang="en-US" sz="14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手推小例子：3×3输入与2×2卷积核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课堂上建议让学生先自己算，再逐步展示答案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20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530352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55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44752" y="1645920"/>
            <a:ext cx="530352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4752" y="1655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75104" y="1645920"/>
            <a:ext cx="530352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1655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176272"/>
            <a:ext cx="530352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854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44752" y="2176272"/>
            <a:ext cx="530352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44752" y="21854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75104" y="2176272"/>
            <a:ext cx="530352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75104" y="21854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2706624"/>
            <a:ext cx="530352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715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444752" y="2706624"/>
            <a:ext cx="530352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44752" y="2715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975104" y="2706624"/>
            <a:ext cx="530352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75104" y="2715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34290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输入图像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730752" y="1874520"/>
            <a:ext cx="621792" cy="621792"/>
          </a:xfrm>
          <a:prstGeom prst="rect">
            <a:avLst/>
          </a:prstGeom>
          <a:solidFill>
            <a:srgbClr val="DDF7E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18836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352544" y="1874520"/>
            <a:ext cx="62179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52544" y="18836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730752" y="2496312"/>
            <a:ext cx="621792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25054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352544" y="2496312"/>
            <a:ext cx="621792" cy="621792"/>
          </a:xfrm>
          <a:prstGeom prst="rect">
            <a:avLst/>
          </a:prstGeom>
          <a:solidFill>
            <a:srgbClr val="DDF7ED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52544" y="25054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584448" y="33101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卷积核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669280" y="2359152"/>
            <a:ext cx="1051560" cy="475488"/>
          </a:xfrm>
          <a:prstGeom prst="chevron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246888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stride=1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0" y="1874520"/>
            <a:ext cx="713232" cy="713232"/>
          </a:xfrm>
          <a:prstGeom prst="rect">
            <a:avLst/>
          </a:prstGeom>
          <a:solidFill>
            <a:srgbClr val="20B486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1883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28432" y="1874520"/>
            <a:ext cx="713232" cy="713232"/>
          </a:xfrm>
          <a:prstGeom prst="rect">
            <a:avLst/>
          </a:prstGeom>
          <a:solidFill>
            <a:srgbClr val="20B486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28432" y="1883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15200" y="2587752"/>
            <a:ext cx="713232" cy="713232"/>
          </a:xfrm>
          <a:prstGeom prst="rect">
            <a:avLst/>
          </a:prstGeom>
          <a:solidFill>
            <a:srgbClr val="20B486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259689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28432" y="2587752"/>
            <a:ext cx="713232" cy="713232"/>
          </a:xfrm>
          <a:prstGeom prst="rect">
            <a:avLst/>
          </a:prstGeom>
          <a:solidFill>
            <a:srgbClr val="20B486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28432" y="259689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59168" y="3547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输出特征图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914400" y="4663440"/>
            <a:ext cx="1001268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8992" y="4809744"/>
            <a:ext cx="9683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左上: 1×1 + 2×0 + 4×0 + 5×1 = 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右上: 2×1 + 3×0 + 5×0 + 6×1 = 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左下: 4×1 + 5×0 + 7×0 + 8×1 = 12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CFD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右下: 5×1 + 6×0 + 8×0 + 9×1 = 14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手推小例子：最大池化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每个2×2区域取最大值，stride=2时输出尺寸减半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21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24128" y="169164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7007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517904" y="169164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17904" y="17007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011680" y="169164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7007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505456" y="1691640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17007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24128" y="218541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194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517904" y="218541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17904" y="2194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011680" y="218541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194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505456" y="2185416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05456" y="2194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24128" y="267919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2688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517904" y="267919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17904" y="2688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2011680" y="267919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2688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505456" y="2679192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05456" y="2688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024128" y="317296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517904" y="317296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17904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2011680" y="317296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2505456" y="3172968"/>
            <a:ext cx="493776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05456" y="3182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4160520" y="2514600"/>
            <a:ext cx="1143000" cy="475488"/>
          </a:xfrm>
          <a:prstGeom prst="chevron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26243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取最大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70448" y="2057400"/>
            <a:ext cx="658368" cy="658368"/>
          </a:xfrm>
          <a:prstGeom prst="rect">
            <a:avLst/>
          </a:prstGeom>
          <a:solidFill>
            <a:srgbClr val="F7B801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70448" y="20665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28816" y="2057400"/>
            <a:ext cx="658368" cy="658368"/>
          </a:xfrm>
          <a:prstGeom prst="rect">
            <a:avLst/>
          </a:prstGeom>
          <a:solidFill>
            <a:srgbClr val="F7B801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28816" y="20665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870448" y="2715768"/>
            <a:ext cx="658368" cy="658368"/>
          </a:xfrm>
          <a:prstGeom prst="rect">
            <a:avLst/>
          </a:prstGeom>
          <a:solidFill>
            <a:srgbClr val="F7B801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70448" y="2724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28816" y="2715768"/>
            <a:ext cx="658368" cy="658368"/>
          </a:xfrm>
          <a:prstGeom prst="rect">
            <a:avLst/>
          </a:prstGeom>
          <a:solidFill>
            <a:srgbClr val="F7B801"/>
          </a:solidFill>
          <a:ln w="10160">
            <a:solidFill>
              <a:srgbClr val="D9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28816" y="2724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75320" y="1737360"/>
            <a:ext cx="27432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左上 max(1,3,5,6)=6</a:t>
            </a:r>
            <a:endParaRPr lang="en-US" sz="1250" dirty="0"/>
          </a:p>
          <a:p>
            <a:r>
              <a:rPr lang="en-US" sz="12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右上 max(2,4,7,8)=8</a:t>
            </a:r>
            <a:endParaRPr lang="en-US" sz="1250" dirty="0"/>
          </a:p>
          <a:p>
            <a:r>
              <a:rPr lang="en-US" sz="12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左下 max(2,8,3,4)=8</a:t>
            </a:r>
            <a:endParaRPr lang="en-US" sz="1250" dirty="0"/>
          </a:p>
          <a:p>
            <a:r>
              <a:rPr lang="en-US" sz="12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右下 max(9,1,5,6)=9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51560" y="4882896"/>
            <a:ext cx="9921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51560" y="4882896"/>
            <a:ext cx="73152" cy="685800"/>
          </a:xfrm>
          <a:prstGeom prst="rect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80160" y="504748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课堂提示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280160" y="5413248"/>
            <a:ext cx="95097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330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池化只改变每个特征图的高度和宽度，不改变通道数；它本身没有可训练参数。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概念测验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用5个问题检查学生是否真正理解了每一层的作用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9525">
            <a:solidFill>
              <a:srgbClr val="D9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329184"/>
            <a:ext cx="566928" cy="210312"/>
          </a:xfrm>
          <a:prstGeom prst="rect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 CNN神经网络原理  /  22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103784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435608"/>
            <a:ext cx="292608" cy="292608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513332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00200" y="1481328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卷积层的主要作用是什么？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822960" y="2130552"/>
            <a:ext cx="10378440" cy="512064"/>
          </a:xfrm>
          <a:prstGeom prst="roundRect">
            <a:avLst>
              <a:gd name="adj" fmla="val 8929"/>
            </a:avLst>
          </a:prstGeom>
          <a:solidFill>
            <a:srgbClr val="F0F3F8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240280"/>
            <a:ext cx="292608" cy="292608"/>
          </a:xfrm>
          <a:prstGeom prst="ellipse">
            <a:avLst/>
          </a:prstGeom>
          <a:solidFill>
            <a:srgbClr val="F7B801"/>
          </a:solidFill>
          <a:ln w="12700">
            <a:solidFill>
              <a:srgbClr val="F7B80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318004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00200" y="2286000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池化层为什么能减少计算量？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822960" y="2935224"/>
            <a:ext cx="103784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044952"/>
            <a:ext cx="292608" cy="292608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122676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00200" y="3090672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ReLU对负数和正数分别做什么？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822960" y="3739896"/>
            <a:ext cx="10378440" cy="512064"/>
          </a:xfrm>
          <a:prstGeom prst="roundRect">
            <a:avLst>
              <a:gd name="adj" fmla="val 8929"/>
            </a:avLst>
          </a:prstGeom>
          <a:solidFill>
            <a:srgbClr val="F0F3F8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3849624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927348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00200" y="3895344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CNN为什么比全连接网络更适合图像？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822960" y="4544568"/>
            <a:ext cx="103784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4654296"/>
            <a:ext cx="292608" cy="292608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732020"/>
            <a:ext cx="2926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00200" y="4700016"/>
            <a:ext cx="8961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28×28输入经过3×3卷积，padding=0、stride=1，输出尺寸是多少？</a:t>
            </a:r>
            <a:endParaRPr lang="en-US" sz="12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229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第2天检查点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310896" cy="310896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5681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444752" y="19110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能解释神经元的工作原理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310896" cy="310896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4261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44752" y="25968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能说清前向传播和反向传播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14400" y="3246120"/>
            <a:ext cx="310896" cy="310896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2841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44752" y="32826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能手推简单卷积计算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14400" y="3931920"/>
            <a:ext cx="310896" cy="310896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1421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444752" y="39684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能解释卷积层、池化层、激活函数的作用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14400" y="4617720"/>
            <a:ext cx="310896" cy="310896"/>
          </a:xfrm>
          <a:prstGeom prst="ellipse">
            <a:avLst/>
          </a:prstGeom>
          <a:solidFill>
            <a:srgbClr val="20B486"/>
          </a:solidFill>
          <a:ln w="12700">
            <a:solidFill>
              <a:srgbClr val="20B4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70001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44752" y="465429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能画出一个简单CNN结构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132320" y="1234440"/>
            <a:ext cx="3429000" cy="3429000"/>
          </a:xfrm>
          <a:prstGeom prst="roundRect">
            <a:avLst>
              <a:gd name="adj" fmla="val 2667"/>
            </a:avLst>
          </a:prstGeom>
          <a:solidFill>
            <a:srgbClr val="FFFFFF">
              <a:alpha val="95000"/>
            </a:srgbClr>
          </a:solidFill>
          <a:ln w="17780">
            <a:solidFill>
              <a:srgbClr val="20B4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65008" y="1874520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1874520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75904" y="1874520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31352" y="1874520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0" y="1874520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42248" y="1874520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97696" y="1874520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53144" y="1874520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08592" y="1874520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64040" y="1874520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5008" y="2029968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0456" y="2029968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75904" y="2029968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31352" y="2029968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2029968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42248" y="2029968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97696" y="2029968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53144" y="2029968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08592" y="2029968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64040" y="2029968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65008" y="2185416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0456" y="2185416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75904" y="2185416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31352" y="2185416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86800" y="2185416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42248" y="2185416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97696" y="2185416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2185416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08592" y="2185416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64040" y="2185416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65008" y="234086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0456" y="234086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75904" y="2340864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31352" y="2340864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86800" y="2340864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42248" y="2340864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97696" y="234086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53144" y="234086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08592" y="234086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64040" y="234086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65008" y="249631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20456" y="2496312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75904" y="2496312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31352" y="249631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86800" y="249631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42248" y="2496312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997696" y="2496312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53144" y="249631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308592" y="249631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64040" y="249631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65008" y="2651760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0456" y="2651760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375904" y="2651760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31352" y="2651760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686800" y="2651760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42248" y="2651760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997696" y="2651760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153144" y="2651760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308592" y="2651760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464040" y="2651760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65008" y="2807208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20456" y="2807208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375904" y="2807208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531352" y="2807208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686800" y="2807208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42248" y="2807208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97696" y="2807208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153144" y="2807208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308592" y="2807208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464040" y="2807208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065008" y="2962656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20456" y="2962656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375904" y="2962656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531352" y="2962656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686800" y="2962656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842248" y="2962656"/>
            <a:ext cx="155448" cy="155448"/>
          </a:xfrm>
          <a:prstGeom prst="rect">
            <a:avLst/>
          </a:prstGeom>
          <a:solidFill>
            <a:srgbClr val="14213D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997696" y="2962656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153144" y="2962656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308592" y="2962656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464040" y="2962656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65008" y="311810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220456" y="311810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375904" y="311810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531352" y="311810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686800" y="311810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842248" y="311810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997696" y="311810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153144" y="311810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308592" y="311810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464040" y="3118104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065008" y="327355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220456" y="327355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375904" y="327355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31352" y="327355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686800" y="327355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842248" y="327355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997696" y="327355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153144" y="327355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308592" y="327355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464040" y="3273552"/>
            <a:ext cx="155448" cy="155448"/>
          </a:xfrm>
          <a:prstGeom prst="rect">
            <a:avLst/>
          </a:prstGeom>
          <a:solidFill>
            <a:srgbClr val="EEF2F6"/>
          </a:solidFill>
          <a:ln w="3175">
            <a:solidFill>
              <a:srgbClr val="D9DEE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903720" y="52578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B8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明天：动手搭建CNN模型</a:t>
            </a:r>
            <a:endParaRPr lang="en-US" sz="1800" dirty="0"/>
          </a:p>
        </p:txBody>
      </p:sp>
      <p:sp>
        <p:nvSpPr>
          <p:cNvPr id="121" name="Text 119"/>
          <p:cNvSpPr/>
          <p:nvPr/>
        </p:nvSpPr>
        <p:spPr>
          <a:xfrm>
            <a:off x="6629400" y="5696712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B8C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Tensor  ·  DataLoader  ·  训练循环  ·  &gt;95%准确率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MNIST CNN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第2天：CNN神经网络原理</dc:title>
  <dc:subject>Day 2 CNN theory lecture</dc:subject>
  <dc:creator>MNIST CNN Course</dc:creator>
  <cp:lastModifiedBy>MNIST CNN Course</cp:lastModifiedBy>
  <cp:revision>1</cp:revision>
  <dcterms:created xsi:type="dcterms:W3CDTF">2026-06-09T02:11:54Z</dcterms:created>
  <dcterms:modified xsi:type="dcterms:W3CDTF">2026-06-09T02:11:54Z</dcterms:modified>
</cp:coreProperties>
</file>